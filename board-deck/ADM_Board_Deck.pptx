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A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2A3A"/>
                </a:solidFill>
                <a:latin typeface="Calibri"/>
              </a:rPr>
              <a:t>Where denied revenue goes today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denied claims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DA4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Never reworked</c:v>
                  </c:pt>
                  <c:pt idx="1">
                    <c:v>Worked &amp; upheld</c:v>
                  </c:pt>
                  <c:pt idx="2">
                    <c:v>Worked &amp; overturned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21</c:v>
                </c:pt>
                <c:pt idx="2">
                  <c:v>39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2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D9E2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A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2A3A"/>
                </a:solidFill>
                <a:latin typeface="Calibri"/>
              </a:rPr>
              <a:t>Baseline vs Year-1 target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9AAAB8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Initial denial rate</c:v>
                  </c:pt>
                  <c:pt idx="1">
                    <c:v>Denials worked</c:v>
                  </c:pt>
                  <c:pt idx="2">
                    <c:v>Appeal overturn rate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60</c:v>
                </c:pt>
                <c:pt idx="2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Year-1 target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Initial denial rate</c:v>
                  </c:pt>
                  <c:pt idx="1">
                    <c:v>Denials worked</c:v>
                  </c:pt>
                  <c:pt idx="2">
                    <c:v>Appeal overturn rate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7.5</c:v>
                </c:pt>
                <c:pt idx="1">
                  <c:v>95</c:v>
                </c:pt>
                <c:pt idx="2">
                  <c:v>78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000" u="none">
                  <a:solidFill>
                    <a:srgbClr val="1A2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A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9E2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2A3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denials are now a board-level margin issue. This program applies a supervised fleet of AI agents to prevent, appeal, and recover denied claims. Ask is on the last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recommendation. The three numbers on the right are the board-relevant outcomes. Assumptions are illustrative for a ~$2B net patient revenue system and shown on the exposure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figure here is an industry range, not our number yet. Phase 1 replaces these with our own baseline, signed by Finance.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Assumes ~60% of denials are worked today and ~65% of worked denials are overturned. The 40% never-reworked slice is the fastest money to recover in the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jobs, one system. Prevention is where the durable margin gain is; autonomous appeals clear today's backlog and fund the program; the learning loop is what keeps the denial rate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four-step pipeline is the assembly line for one denied claim. The supporting agents serve every step. The green bar is the control point: humans own the irreversible submit action until autonomy is earned.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Compliance and Legal care about. Autonomy is not a switch we flip; each denial sub-category graduates tier by tier only after measured accuracy. Medical-necessity judgment never leaves a credentialed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Year-1 targets against our own Phase-1 baseline. The chart holds the three percentage metrics; cycle time and cost sit alongside because they are on different scales.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roadmap is deliberately gated. We are not asking for 18 months of funding today — only Phases 1–2. Each gate is a real decision point with evidence attached.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across: each phase has concrete activities and a hard exit gate. The gate language is what we will bring back to this committee at each checkpoint.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Lean pod, SMEs embedded from day one so the agents learn our real playbook. Change management is funded because the workforce story — redeployment, not reduction — has to be handled deliberately.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these are blockers — each has an owned mitigation baked into the design and the governance policy. The two we brief most often: payer TOS (channel choice) and workforce (redeployment).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is narrow and low-regret: fund discovery and the compliance/security foundation. Everything past Phase 2 comes back to this committee with evidence at a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554480"/>
            <a:ext cx="5852160" cy="5852160"/>
          </a:xfrm>
          <a:prstGeom prst="ellipse">
            <a:avLst/>
          </a:prstGeom>
          <a:ln w="1905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822960"/>
            <a:ext cx="4297680" cy="4297680"/>
          </a:xfrm>
          <a:prstGeom prst="ellipse">
            <a:avLst/>
          </a:prstGeom>
          <a:ln w="762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274320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685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 DIRECTORS   ·   STRATEGIC REVIEW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Denials Management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033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program to prevent, appeal, and recover denied claims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5074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$8–15M  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annual uplift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50749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0560" y="5074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9 months  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payback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0" y="50749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B3A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0" y="5074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points  </a:t>
            </a:r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initial denial rate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Cycle Transformation   · 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line up front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Payers are denying more claims, faster, and increasingly through automation. Most denials are preventable, and two-thirds of worked denials are recoverable — yet roughly half are never worked. This is an operational gap we can close.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Autonomous Denials Management as a strategic revenue-cycle initiative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 executive sponsor and a dedicated cross-functional delivery pod</a:t>
            </a:r>
            <a:endParaRPr lang="en-US" sz="1300" dirty="0"/>
          </a:p>
          <a:p>
            <a:pPr algn="l" marL="152400" indent="-152400"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Phases 1–2 under a stage-gated model — each phase funded on evidence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06640" y="141732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607808" y="1563624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$8–15M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607808" y="2148840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annual net revenue uplift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607808" y="2377440"/>
            <a:ext cx="3803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+ higher recovery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06640" y="306324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607808" y="3209544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7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9 months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607808" y="3794760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payback period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607808" y="4023360"/>
            <a:ext cx="3803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cash accelerates it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470916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607808" y="4855464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6 months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607808" y="5440680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first production beachhead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607808" y="5669280"/>
            <a:ext cx="3803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denial types, 1–2 payers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Denials have become a board-level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0517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609344"/>
            <a:ext cx="3102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11–15%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94560"/>
            <a:ext cx="3102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denial rate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560320"/>
            <a:ext cx="3102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~8% a few years ago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8130" y="1463040"/>
            <a:ext cx="350517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29298" y="1609344"/>
            <a:ext cx="3102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50–65%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29298" y="2194560"/>
            <a:ext cx="3102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Denials never reworked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29298" y="2560320"/>
            <a:ext cx="3102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revenue walked away from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07619" y="1463040"/>
            <a:ext cx="350517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08787" y="1609344"/>
            <a:ext cx="3102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85–90%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308787" y="2194560"/>
            <a:ext cx="3102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Denials are preventable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08787" y="2560320"/>
            <a:ext cx="3102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auth, eligibility, coding, docs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350517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9808" y="3438144"/>
            <a:ext cx="3102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$25–118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4023360"/>
            <a:ext cx="3102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rework one claim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389120"/>
            <a:ext cx="3102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for complex clinical appeals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28130" y="3291840"/>
            <a:ext cx="350517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29298" y="3438144"/>
            <a:ext cx="3102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30–45+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4529298" y="4023360"/>
            <a:ext cx="3102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from denial to decision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29298" y="4389120"/>
            <a:ext cx="3102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aged AR and bad debt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07619" y="3291840"/>
            <a:ext cx="3505170" cy="1600200"/>
          </a:xfrm>
          <a:prstGeom prst="roundRect">
            <a:avLst>
              <a:gd name="adj" fmla="val 4571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308787" y="3438144"/>
            <a:ext cx="3102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20%+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8308787" y="4023360"/>
            <a:ext cx="3102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RCM staff turnover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308787" y="4389120"/>
            <a:ext cx="3102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hire our way out of it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0243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are being denied by algorithms — we will prevent and appeal with agents.”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financial exposure, quantified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0789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~$2B net patient revenue system; refined against our data in Phase 1.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9808" y="1700784"/>
            <a:ext cx="4718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$40–60M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86000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patient revenue at risk each year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46888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~11% of gross charges denied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9808" y="3255264"/>
            <a:ext cx="4718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$5–10M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840480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cash from backlog liquidation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02336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90 days of the pilot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49808" y="4809744"/>
            <a:ext cx="4718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$2–4M+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5394960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to rework denials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557784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$25–118 per claim touch</a:t>
            </a:r>
            <a:endParaRPr lang="en-US" sz="9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035040" y="1600200"/>
          <a:ext cx="5577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Denials Management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2344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fleet of AI agents that diagnoses, appeals, and prevents denials — grounded in payer policy, fully auditable, with humans on every irreversible action.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443630" cy="3108960"/>
          </a:xfrm>
          <a:prstGeom prst="roundRect">
            <a:avLst>
              <a:gd name="adj" fmla="val 2353"/>
            </a:avLst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7889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93008"/>
            <a:ext cx="2803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977640"/>
            <a:ext cx="280355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Pre-bill denial-risk scoring and real-time front-end checks stop denials before claims leave the building.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58030" y="2468880"/>
            <a:ext cx="3443630" cy="3108960"/>
          </a:xfrm>
          <a:prstGeom prst="roundRect">
            <a:avLst>
              <a:gd name="adj" fmla="val 2353"/>
            </a:avLst>
          </a:prstGeom>
          <a:solidFill>
            <a:srgbClr val="1B3A5C"/>
          </a:solidFill>
          <a:ln/>
        </p:spPr>
      </p:sp>
      <p:sp>
        <p:nvSpPr>
          <p:cNvPr id="11" name="Shape 9"/>
          <p:cNvSpPr/>
          <p:nvPr/>
        </p:nvSpPr>
        <p:spPr>
          <a:xfrm>
            <a:off x="4678070" y="27889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78070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78070" y="3493008"/>
            <a:ext cx="2803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78070" y="3977640"/>
            <a:ext cx="280355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find the root cause, gather clinical evidence, and draft payer-specific, policy-cited appeals for rapid submission.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67421" y="2468880"/>
            <a:ext cx="3443630" cy="3108960"/>
          </a:xfrm>
          <a:prstGeom prst="roundRect">
            <a:avLst>
              <a:gd name="adj" fmla="val 2353"/>
            </a:avLst>
          </a:prstGeom>
          <a:solidFill>
            <a:srgbClr val="1B3A5C"/>
          </a:solidFill>
          <a:ln/>
        </p:spPr>
      </p:sp>
      <p:sp>
        <p:nvSpPr>
          <p:cNvPr id="16" name="Shape 14"/>
          <p:cNvSpPr/>
          <p:nvPr/>
        </p:nvSpPr>
        <p:spPr>
          <a:xfrm>
            <a:off x="8487461" y="278892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87461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87461" y="3493008"/>
            <a:ext cx="2803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487461" y="3977640"/>
            <a:ext cx="280355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denial feeds root-cause fixes back to scheduling, authorization, registration, and coding.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a coordinated agent fleet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23160" cy="146304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88366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4944" y="18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184708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Classify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2304288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835/ERA, payer portals and mail; normalize CARC/RARC codes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 rot="5400000">
            <a:off x="3063240" y="2286000"/>
            <a:ext cx="274320" cy="27432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1737360"/>
            <a:ext cx="2423160" cy="146304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75304" y="188366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75304" y="18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41064" y="184708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Root Cause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575304" y="2304288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medical necessity, coding, timely filing, coordination of benefits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943600" y="2286000"/>
            <a:ext cx="274320" cy="27432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1737360"/>
            <a:ext cx="2423160" cy="146304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55664" y="188366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55664" y="18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21424" y="184708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Strategize &amp; Draft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55664" y="2304288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play; assemble clinical evidence; write the payer-specific appeal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 rot="5400000">
            <a:off x="8823960" y="2286000"/>
            <a:ext cx="274320" cy="274320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9189720" y="1737360"/>
            <a:ext cx="2423160" cy="1463040"/>
          </a:xfrm>
          <a:prstGeom prst="roundRect">
            <a:avLst>
              <a:gd name="adj" fmla="val 5000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36024" y="188366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36024" y="18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701784" y="184708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&amp; Follow-up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336024" y="2304288"/>
            <a:ext cx="2130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via 837 / portal / fax; track status; escalate past SLA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4290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E1F3E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34290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queue:  approve  ·  edit  ·  reject   —   no appeal above set thresholds is submitted without sign-off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SUPPORTING AGENTS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572000"/>
            <a:ext cx="2029968" cy="777240"/>
          </a:xfrm>
          <a:prstGeom prst="roundRect">
            <a:avLst>
              <a:gd name="adj" fmla="val 9412"/>
            </a:avLst>
          </a:prstGeom>
          <a:solidFill>
            <a:srgbClr val="1B3A5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" y="457200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07208" y="4572000"/>
            <a:ext cx="2029968" cy="777240"/>
          </a:xfrm>
          <a:prstGeom prst="roundRect">
            <a:avLst>
              <a:gd name="adj" fmla="val 9412"/>
            </a:avLst>
          </a:prstGeom>
          <a:solidFill>
            <a:srgbClr val="1B3A5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898648" y="457200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Payer-Policy RAG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65776" y="4572000"/>
            <a:ext cx="2029968" cy="777240"/>
          </a:xfrm>
          <a:prstGeom prst="roundRect">
            <a:avLst>
              <a:gd name="adj" fmla="val 9412"/>
            </a:avLst>
          </a:prstGeom>
          <a:solidFill>
            <a:srgbClr val="1B3A5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157216" y="457200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Retrieval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24344" y="4572000"/>
            <a:ext cx="2029968" cy="777240"/>
          </a:xfrm>
          <a:prstGeom prst="roundRect">
            <a:avLst>
              <a:gd name="adj" fmla="val 9412"/>
            </a:avLst>
          </a:prstGeom>
          <a:solidFill>
            <a:srgbClr val="1B3A5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415784" y="457200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Feedback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582912" y="4572000"/>
            <a:ext cx="2029968" cy="777240"/>
          </a:xfrm>
          <a:prstGeom prst="roundRect">
            <a:avLst>
              <a:gd name="adj" fmla="val 9412"/>
            </a:avLst>
          </a:prstGeom>
          <a:solidFill>
            <a:srgbClr val="1B3A5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674352" y="457200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Audit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CARC/RARC = claim adjustment / remittance advice remark codes  ·  837 = electronic claim  ·  835/ERA = electronic remittance advice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Governance: autonomy is earned, humans own the irreversible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9768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0 · Shadow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denial category or payer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does the work; agent proposes in parallel; outputs compared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· Assist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category, any dollar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drafts; specialist reviews and submits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 · Supervised auto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category, below $ threshold, confidence ≥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submits; humans audit a sample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· Auto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Low-risk, high-volume: timely-filing with proof, duplicates, simple COB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Exception-only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892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ON EVERY CLAIM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5212080"/>
            <a:ext cx="2066544" cy="9144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76656" y="521208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HIPAA-eligible models + BAA, zero data retention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98064" y="5212080"/>
            <a:ext cx="2066544" cy="9144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926080" y="521208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cites current payer policy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47488" y="5212080"/>
            <a:ext cx="2066544" cy="9144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175504" y="521208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dollar thresholds gate autonomy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296912" y="5212080"/>
            <a:ext cx="2066544" cy="9144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424928" y="521208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sign-off for medical necessity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546336" y="5212080"/>
            <a:ext cx="2066544" cy="9144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674352" y="5212080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 for every claim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outcomes — Year 1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4008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55448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516368" y="1700784"/>
            <a:ext cx="3895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7 days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516368" y="2286000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cycle time (from 30–45 days)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0" y="306324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516368" y="3209544"/>
            <a:ext cx="3895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40–60%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516368" y="3794760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to rework each denial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0" y="4572000"/>
            <a:ext cx="4297680" cy="1508760"/>
          </a:xfrm>
          <a:prstGeom prst="roundRect">
            <a:avLst>
              <a:gd name="adj" fmla="val 4848"/>
            </a:avLst>
          </a:prstGeom>
          <a:solidFill>
            <a:srgbClr val="02C39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534656" y="4572000"/>
            <a:ext cx="3931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$8–15M</a:t>
            </a:r>
            <a:endParaRPr lang="en-US" sz="2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net revenue uplift</a:t>
            </a:r>
            <a:endParaRPr lang="en-US" sz="220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$5–10M one-time cash  ·  payback &lt; 9 months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roadmap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07899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gated phases over roughly 18 months — compliance and security run in parallel from Month 1.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554480" y="2697480"/>
            <a:ext cx="91440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&amp; Size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380744" y="2523744"/>
            <a:ext cx="347472" cy="34747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80744" y="2505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0–2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1783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Security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9544" y="2523744"/>
            <a:ext cx="347472" cy="34747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9544" y="2505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251960" y="1783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Build MVP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38344" y="2523744"/>
            <a:ext cx="347472" cy="34747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38344" y="2505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25196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3–6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080760" y="1783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&amp; Controlled Pilot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67144" y="2523744"/>
            <a:ext cx="347472" cy="34747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67144" y="2505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6–9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1783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Prevention Loop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95944" y="2523744"/>
            <a:ext cx="347472" cy="34747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95944" y="2505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8–11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738360" y="17830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Operate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524744" y="2523744"/>
            <a:ext cx="347472" cy="34747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524744" y="2505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73836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10–18+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3611880"/>
            <a:ext cx="3505170" cy="2194560"/>
          </a:xfrm>
          <a:prstGeom prst="roundRect">
            <a:avLst>
              <a:gd name="adj" fmla="val 3333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77240" y="3840480"/>
            <a:ext cx="3047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Funded on evidence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4297680"/>
            <a:ext cx="30479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ends in an exit gate with a go / no-go and release of the next phase's budget.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28130" y="3611880"/>
            <a:ext cx="3505170" cy="2194560"/>
          </a:xfrm>
          <a:prstGeom prst="roundRect">
            <a:avLst>
              <a:gd name="adj" fmla="val 3333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4556730" y="3840480"/>
            <a:ext cx="3047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foundations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556730" y="4297680"/>
            <a:ext cx="30479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security, payer-contract and AI-governance work start in Month 1, not after the build.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07619" y="3611880"/>
            <a:ext cx="3505170" cy="2194560"/>
          </a:xfrm>
          <a:prstGeom prst="roundRect">
            <a:avLst>
              <a:gd name="adj" fmla="val 3333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336219" y="3840480"/>
            <a:ext cx="3047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Autonomy is earned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336219" y="4297680"/>
            <a:ext cx="30479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runs unsupervised until shadow mode shows agent quality at or above today's team.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delivery process, step by step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128016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&amp; Size · M0–2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and sponsor signed; steering committee stood up; 12–24 months of denial data pulled; Pareto by payer × category × dollars × preventability; every KPI baselined with Finance.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8716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signed baseline, prioritized backlog, beachhead scope, Phase 1–2 funding.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63640" y="128016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02552" y="128016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Security Foundation · M1–3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64592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/ security assessment and BAAs; legal review of payer portal terms; CMS-0057-F, No Surprises Act and state AI rules mapped; AI-governance policy approved; secure cloud environment stood up.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48716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governance policy approved by Compliance and Legal; environment security-accredited.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44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306324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Build MVP · M3–6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42900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and agent contracts designed; payer-policy knowledge base and refresh built; 835/837 ingestion and EHR evidence retrieval wired; review workbench, audit log and evaluation harness in place.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7024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MVP meets accuracy thresholds in test; security sign-off to enter shadow mode.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63640" y="306324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3044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02552" y="306324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&amp; Controlled Pilot · M6–9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42900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in parallel with specialists; root cause, strategy and letters blind-scored and tuned; beachhead queue then routed with every submission human-approved; aged backlog liquidated.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427024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agent quality at or above baseline; false-action rate below ceiling; approval to expand.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828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484632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Prevention Loop · M8–11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2120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root causes become front-end edits at scheduling, authorization, registration and coding; pre-bill denial-risk scoring added; education targeted to the teams and physicians driving denials.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0533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measurable drop in the initial denial rate for piloted categories.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63640" y="484632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63640" y="4828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02552" y="484632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Operate · M10–18+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52120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by backlog priority to more categories, payers and facilities; payer APIs adopted as available; low-risk categories promoted to higher autonomy; AgentOps, drift monitoring and quarterly governance.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263640" y="605332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standardized 'add a payer / add a category' playbook, each with its own eval gate.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operating model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POD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 (CFO / COO)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37744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lead + product owner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9260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lead + 2–3 engineers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4747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383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(2) + RPA engineer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02336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denials SMEs (2–3)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57200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advisor / CDI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512064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029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privacy officer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56692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5577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Payer-contract counsel + change manager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CADENCE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18288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208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stand-up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237744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20840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KPI review with Finance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46520" y="292608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20840" y="2834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steering committee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46520" y="347472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2084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Phase-gate funding decisions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42519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675120" y="4434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Funded on evidence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484632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has an exit gate and a go / no-go. Specialists move into QA, exception handling and denial-prevention analysis — not out of the organization.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 &amp; how we contain them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05170" cy="2148840"/>
          </a:xfrm>
          <a:prstGeom prst="roundRect">
            <a:avLst>
              <a:gd name="adj" fmla="val 3404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1907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627632"/>
            <a:ext cx="28650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or indefensible appeal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3047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dollar gates; shadow mode first; QA sampling; humans approve Tiers 0–1.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28130" y="1463040"/>
            <a:ext cx="3505170" cy="2148840"/>
          </a:xfrm>
          <a:prstGeom prst="roundRect">
            <a:avLst>
              <a:gd name="adj" fmla="val 3404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6730" y="171907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85330" y="1627632"/>
            <a:ext cx="28650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portal terms of use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56730" y="2286000"/>
            <a:ext cx="3047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 per payer; prefer 837 / API / fax; attended RPA only where permitted.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07619" y="1463040"/>
            <a:ext cx="3505170" cy="2148840"/>
          </a:xfrm>
          <a:prstGeom prst="roundRect">
            <a:avLst>
              <a:gd name="adj" fmla="val 3404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36219" y="171907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64819" y="1627632"/>
            <a:ext cx="28650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exposure / prompt injection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36219" y="2286000"/>
            <a:ext cx="3047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HIPAA-eligible endpoints + BAA, zero retention; input sanitization; DLP on outputs.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05170" cy="2148840"/>
          </a:xfrm>
          <a:prstGeom prst="roundRect">
            <a:avLst>
              <a:gd name="adj" fmla="val 3404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09651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4005072"/>
            <a:ext cx="28650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payer policy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663440"/>
            <a:ext cx="3047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refresh SLA; date-stamped sources; agent must cite current policy or escalate.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28130" y="3840480"/>
            <a:ext cx="3505170" cy="2148840"/>
          </a:xfrm>
          <a:prstGeom prst="roundRect">
            <a:avLst>
              <a:gd name="adj" fmla="val 3404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56730" y="409651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85330" y="4005072"/>
            <a:ext cx="28650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scrutiny of AI in claims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56730" y="4663440"/>
            <a:ext cx="3047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auditability; humans accountable for clinical judgment; CMS / state alignment.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07619" y="3840480"/>
            <a:ext cx="3505170" cy="2148840"/>
          </a:xfrm>
          <a:prstGeom prst="roundRect">
            <a:avLst>
              <a:gd name="adj" fmla="val 3404"/>
            </a:avLst>
          </a:prstGeom>
          <a:solidFill>
            <a:srgbClr val="EEF3F6"/>
          </a:solidFill>
          <a:ln/>
          <a:effectLst>
            <a:outerShdw sx="100000" sy="100000" kx="0" ky="0" algn="bl" rotWithShape="0" blurRad="101600" dist="25400" dir="5400000">
              <a:srgbClr val="9AAAB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36219" y="409651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64819" y="4005072"/>
            <a:ext cx="28650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adoption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336219" y="4663440"/>
            <a:ext cx="30479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as capacity relief; retrain specialists into QA / exception / analyst roles.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737360"/>
            <a:ext cx="5486400" cy="5486400"/>
          </a:xfrm>
          <a:prstGeom prst="ellipse">
            <a:avLst/>
          </a:prstGeom>
          <a:ln w="762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566928"/>
            <a:ext cx="155448" cy="1554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3657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 the Board to approve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56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783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Autonomous Denials Management as a strategic revenue-cycle initiative.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9718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953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28803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executive sponsor and the cross-functional delivery pod.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40690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0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39776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Phases 1–2 — discovery and foundation — under the stage-gated model.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 live in ~6 months   ·   shadow-tested before any autonomy   ·   payback &lt; 9 months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US Healthcare RCM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Denials Management</dc:title>
  <dc:subject>PptxGenJS Presentation</dc:subject>
  <dc:creator>Revenue Cycle Transformation</dc:creator>
  <cp:lastModifiedBy>Revenue Cycle Transformation</cp:lastModifiedBy>
  <cp:revision>1</cp:revision>
  <dcterms:created xsi:type="dcterms:W3CDTF">2026-09-03T06:11:45Z</dcterms:created>
  <dcterms:modified xsi:type="dcterms:W3CDTF">2026-09-03T06:11:45Z</dcterms:modified>
</cp:coreProperties>
</file>